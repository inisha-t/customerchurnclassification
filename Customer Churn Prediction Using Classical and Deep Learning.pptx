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92" y="8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364A4-947C-4D09-8883-AD904644B87E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CC912-2662-478F-AAD2-A75A555840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103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CC912-2662-478F-AAD2-A75A555840F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201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90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8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9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552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57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45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76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36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17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3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Cloudy oil paint art">
            <a:extLst>
              <a:ext uri="{FF2B5EF4-FFF2-40B4-BE49-F238E27FC236}">
                <a16:creationId xmlns:a16="http://schemas.microsoft.com/office/drawing/2014/main" id="{6F8E7DF6-5ACE-BC65-5387-2301C1BB20A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257" b="474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4FC698-69ED-8951-2047-AE1AC153C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Autofit/>
          </a:bodyPr>
          <a:lstStyle/>
          <a:p>
            <a:r>
              <a:rPr lang="en-GB" sz="4400" dirty="0"/>
              <a:t>Customer Churn Prediction Using Classical and Deep Learning Classification Models</a:t>
            </a:r>
            <a:endParaRPr lang="en-GB" sz="4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17A2EC-B2CE-26CA-C832-140CC4D6C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GB" sz="2400" dirty="0">
                <a:solidFill>
                  <a:srgbClr val="FFFFFF"/>
                </a:solidFill>
              </a:rPr>
              <a:t>MAST6100 – Final Project Individual</a:t>
            </a:r>
          </a:p>
          <a:p>
            <a:r>
              <a:rPr lang="en-GB" sz="2400" dirty="0">
                <a:solidFill>
                  <a:srgbClr val="FFFFFF"/>
                </a:solidFill>
              </a:rPr>
              <a:t>Inisha Thayaparan - 22014963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37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1A0A9-5066-E6E7-4974-B494B22C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Motivation &amp; Background</a:t>
            </a:r>
            <a:br>
              <a:rPr lang="en-GB" dirty="0"/>
            </a:br>
            <a:r>
              <a:rPr lang="en-GB" sz="2200" dirty="0"/>
              <a:t>Customer Churn Prediction Using Classification Models</a:t>
            </a:r>
            <a:br>
              <a:rPr lang="en-GB" sz="2200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1ADCD-BDA9-2290-36C7-C100C9435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Customer churn refers to customers discontinuing a service.</a:t>
            </a:r>
            <a:br>
              <a:rPr lang="en-GB" dirty="0"/>
            </a:br>
            <a:r>
              <a:rPr lang="en-GB" dirty="0"/>
              <a:t>In the telecommunications industry, retaining customers is more cost-effective than acquiring new ones.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Predicting churn allows companies to:</a:t>
            </a:r>
          </a:p>
          <a:p>
            <a:r>
              <a:rPr lang="en-GB" dirty="0"/>
              <a:t>Identify high-risk customers early</a:t>
            </a:r>
          </a:p>
          <a:p>
            <a:r>
              <a:rPr lang="en-GB" dirty="0"/>
              <a:t>Apply targeted retention strategies</a:t>
            </a:r>
          </a:p>
          <a:p>
            <a:r>
              <a:rPr lang="en-GB" dirty="0"/>
              <a:t>Reduce revenue loss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This project applies classical and deep learning classification models to predict customer churn using real-world data.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6689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5036-0316-CF58-4EF9-2FEF4F8AC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758E1-7F90-C7F0-6826-AA068952B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This project addresses the following questions:</a:t>
            </a:r>
          </a:p>
          <a:p>
            <a:r>
              <a:rPr lang="en-GB" dirty="0"/>
              <a:t>Can customer churn be accurately predicted using customer data?</a:t>
            </a:r>
          </a:p>
          <a:p>
            <a:r>
              <a:rPr lang="en-GB" dirty="0"/>
              <a:t>How does a Generalized Linear Model (GLM) compare to classical machine learning models?</a:t>
            </a:r>
          </a:p>
          <a:p>
            <a:r>
              <a:rPr lang="en-GB" dirty="0"/>
              <a:t>Does a deep learning model improve predictive performance?</a:t>
            </a:r>
          </a:p>
          <a:p>
            <a:r>
              <a:rPr lang="en-GB" dirty="0"/>
              <a:t>Which factors are most influential in predicting churn?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135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281D-FEF8-C6FC-C0A8-9401C9EB6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27CE0-D51F-3205-8C7F-F158CCFE9D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Dataset:</a:t>
            </a:r>
            <a:r>
              <a:rPr lang="en-GB" dirty="0"/>
              <a:t> Telco Customer Churn (Kaggle / IBM)</a:t>
            </a:r>
          </a:p>
          <a:p>
            <a:r>
              <a:rPr lang="en-GB" dirty="0"/>
              <a:t>7,043 customer observations</a:t>
            </a:r>
          </a:p>
          <a:p>
            <a:r>
              <a:rPr lang="en-GB" dirty="0"/>
              <a:t>Binary target variable: </a:t>
            </a:r>
            <a:r>
              <a:rPr lang="en-GB" b="1" dirty="0"/>
              <a:t>Churn (Yes / No)</a:t>
            </a:r>
            <a:endParaRPr lang="en-GB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Features include:</a:t>
            </a:r>
            <a:endParaRPr lang="en-GB" dirty="0"/>
          </a:p>
          <a:p>
            <a:r>
              <a:rPr lang="en-GB" dirty="0"/>
              <a:t>Demographics (gender, senior citizen)</a:t>
            </a:r>
          </a:p>
          <a:p>
            <a:r>
              <a:rPr lang="en-GB" dirty="0"/>
              <a:t>Account details (tenure, contract type)</a:t>
            </a:r>
          </a:p>
          <a:p>
            <a:r>
              <a:rPr lang="en-GB" dirty="0"/>
              <a:t>Services (internet, tech support)</a:t>
            </a:r>
          </a:p>
          <a:p>
            <a:r>
              <a:rPr lang="en-GB" dirty="0"/>
              <a:t>Billing information (monthly &amp; total charges)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BAE51-00A1-5756-651A-DB1A41A6C5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Limitations:</a:t>
            </a:r>
            <a:endParaRPr lang="en-GB" dirty="0"/>
          </a:p>
          <a:p>
            <a:r>
              <a:rPr lang="en-GB" dirty="0"/>
              <a:t>Missing values in </a:t>
            </a:r>
            <a:r>
              <a:rPr lang="en-GB" dirty="0" err="1"/>
              <a:t>TotalCharges</a:t>
            </a:r>
            <a:endParaRPr lang="en-GB" dirty="0"/>
          </a:p>
          <a:p>
            <a:r>
              <a:rPr lang="en-GB" dirty="0"/>
              <a:t>Categorical feature dominance</a:t>
            </a:r>
          </a:p>
          <a:p>
            <a:r>
              <a:rPr lang="en-GB" dirty="0"/>
              <a:t>Single-company dataset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9966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D5DA-3468-6D40-B630-B290E529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8921FE-A68B-09DB-2D4D-B5F4A08AE0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Preprocessing Steps</a:t>
            </a:r>
            <a:endParaRPr lang="en-GB" dirty="0"/>
          </a:p>
          <a:p>
            <a:r>
              <a:rPr lang="en-GB" dirty="0"/>
              <a:t>Remove missing values</a:t>
            </a:r>
          </a:p>
          <a:p>
            <a:r>
              <a:rPr lang="en-GB" dirty="0"/>
              <a:t>Encode categorical variables</a:t>
            </a:r>
          </a:p>
          <a:p>
            <a:r>
              <a:rPr lang="en-GB" dirty="0"/>
              <a:t>Scale numerical features</a:t>
            </a:r>
          </a:p>
          <a:p>
            <a:r>
              <a:rPr lang="en-GB" dirty="0"/>
              <a:t>Train-test split (80/20)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Models Used</a:t>
            </a:r>
            <a:endParaRPr lang="en-GB" dirty="0"/>
          </a:p>
          <a:p>
            <a:r>
              <a:rPr lang="en-GB" dirty="0"/>
              <a:t>Logistic Regression (GLM)</a:t>
            </a:r>
          </a:p>
          <a:p>
            <a:r>
              <a:rPr lang="en-GB" dirty="0"/>
              <a:t>Random Forest</a:t>
            </a:r>
          </a:p>
          <a:p>
            <a:r>
              <a:rPr lang="en-GB" dirty="0"/>
              <a:t>Support Vector Machine (SVM)</a:t>
            </a:r>
          </a:p>
          <a:p>
            <a:r>
              <a:rPr lang="en-GB" dirty="0"/>
              <a:t>Deep Neural Network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8CFF7-BA2B-DBF9-A259-BBD6925141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Evaluation Metrics</a:t>
            </a:r>
            <a:endParaRPr lang="en-GB" dirty="0"/>
          </a:p>
          <a:p>
            <a:r>
              <a:rPr lang="en-GB" dirty="0"/>
              <a:t>Accuracy</a:t>
            </a:r>
          </a:p>
          <a:p>
            <a:r>
              <a:rPr lang="en-GB" dirty="0"/>
              <a:t>Precision</a:t>
            </a:r>
          </a:p>
          <a:p>
            <a:r>
              <a:rPr lang="en-GB" dirty="0"/>
              <a:t>Recall</a:t>
            </a:r>
          </a:p>
          <a:p>
            <a:r>
              <a:rPr lang="en-GB" dirty="0"/>
              <a:t>F1-Score</a:t>
            </a:r>
          </a:p>
          <a:p>
            <a:r>
              <a:rPr lang="en-GB" dirty="0"/>
              <a:t>ROC-AUC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9257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FD14-7D98-BB78-235E-BF9CEEB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D59D0-6DCA-0D93-7420-917C0BC380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Results Summary</a:t>
            </a:r>
            <a:endParaRPr lang="en-GB" dirty="0"/>
          </a:p>
          <a:p>
            <a:r>
              <a:rPr lang="en-GB" dirty="0"/>
              <a:t>Deep Neural Network achieved the strongest predictive performance</a:t>
            </a:r>
          </a:p>
          <a:p>
            <a:r>
              <a:rPr lang="en-GB" dirty="0"/>
              <a:t>Random Forest and SVM outperformed the GLM</a:t>
            </a:r>
          </a:p>
          <a:p>
            <a:r>
              <a:rPr lang="en-GB" dirty="0"/>
              <a:t>Logistic Regression provided the best interpretability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Key Predictors</a:t>
            </a:r>
            <a:endParaRPr lang="en-GB" dirty="0"/>
          </a:p>
          <a:p>
            <a:r>
              <a:rPr lang="en-GB" dirty="0"/>
              <a:t>Contract type</a:t>
            </a:r>
          </a:p>
          <a:p>
            <a:r>
              <a:rPr lang="en-GB" dirty="0"/>
              <a:t>Customer tenure</a:t>
            </a:r>
          </a:p>
          <a:p>
            <a:r>
              <a:rPr lang="en-GB" dirty="0"/>
              <a:t>Monthly charges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0EE37-EA04-8AF5-0DD2-F1D3F4D4B0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Conclusion</a:t>
            </a:r>
          </a:p>
          <a:p>
            <a:r>
              <a:rPr lang="en-GB" dirty="0"/>
              <a:t>Customer churn can be effectively predicted using classification models. Deep learning improves accuracy, while classical models remain valuable for explainability.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123205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312</Words>
  <Application>Microsoft Office PowerPoint</Application>
  <PresentationFormat>Widescreen</PresentationFormat>
  <Paragraphs>63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Bierstadt</vt:lpstr>
      <vt:lpstr>GestaltVTI</vt:lpstr>
      <vt:lpstr>Customer Churn Prediction Using Classical and Deep Learning Classification Models</vt:lpstr>
      <vt:lpstr>Motivation &amp; Background Customer Churn Prediction Using Classification Models </vt:lpstr>
      <vt:lpstr>Research Questions</vt:lpstr>
      <vt:lpstr>Data Description</vt:lpstr>
      <vt:lpstr>Methodology</vt:lpstr>
      <vt:lpstr>Results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Inisha Thayaparan</dc:creator>
  <cp:lastModifiedBy>Inisha Thayaparan</cp:lastModifiedBy>
  <cp:revision>1</cp:revision>
  <dcterms:created xsi:type="dcterms:W3CDTF">2025-12-19T09:23:53Z</dcterms:created>
  <dcterms:modified xsi:type="dcterms:W3CDTF">2025-12-19T09:34:02Z</dcterms:modified>
</cp:coreProperties>
</file>